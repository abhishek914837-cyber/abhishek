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4297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UUnX05D3t4frU1XzUbuap3JQF3OuROMV?usp=drive_link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2926080" cy="2926080"/>
          </a:xfrm>
          <a:prstGeom prst="ellipse">
            <a:avLst/>
          </a:prstGeom>
          <a:solidFill>
            <a:srgbClr val="2E7D32">
              <a:alpha val="50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200400"/>
            <a:ext cx="2286000" cy="2286000"/>
          </a:xfrm>
          <a:prstGeom prst="ellipse">
            <a:avLst/>
          </a:prstGeom>
          <a:solidFill>
            <a:srgbClr val="388E3C">
              <a:alpha val="40000"/>
            </a:srgbClr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457200"/>
            <a:ext cx="1645920" cy="1645920"/>
          </a:xfrm>
          <a:prstGeom prst="ellipse">
            <a:avLst/>
          </a:prstGeom>
          <a:solidFill>
            <a:srgbClr val="66BB6A">
              <a:alpha val="30000"/>
            </a:srgbClr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91440" cy="210312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71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66BB6A"/>
                </a:solidFill>
              </a:rPr>
              <a:t>PRECISION FARMING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Effective Input Utilization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Using AI and ML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3291840"/>
            <a:ext cx="5943600" cy="36576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429000"/>
            <a:ext cx="7315200" cy="1318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A5D6A7"/>
                </a:solidFill>
              </a:rPr>
              <a:t>[</a:t>
            </a:r>
            <a:r>
              <a:rPr lang="en-IN" b="1" dirty="0">
                <a:solidFill>
                  <a:schemeClr val="bg1"/>
                </a:solidFill>
              </a:rPr>
              <a:t>ABHISHEK                      AMB2004</a:t>
            </a:r>
          </a:p>
          <a:p>
            <a:r>
              <a:rPr lang="en-IN" b="1" dirty="0">
                <a:solidFill>
                  <a:schemeClr val="bg1"/>
                </a:solidFill>
              </a:rPr>
              <a:t>BHEEMESH H                 AMB2036</a:t>
            </a:r>
          </a:p>
          <a:p>
            <a:r>
              <a:rPr lang="en-IN" b="1" dirty="0">
                <a:solidFill>
                  <a:schemeClr val="bg1"/>
                </a:solidFill>
              </a:rPr>
              <a:t>BHUMIKA TV                 AMB2041</a:t>
            </a:r>
          </a:p>
          <a:p>
            <a:r>
              <a:rPr lang="en-IN" b="1" dirty="0">
                <a:solidFill>
                  <a:schemeClr val="bg1"/>
                </a:solidFill>
              </a:rPr>
              <a:t>4</a:t>
            </a:r>
            <a:r>
              <a:rPr lang="en-IN" b="1" baseline="30000" dirty="0">
                <a:solidFill>
                  <a:schemeClr val="bg1"/>
                </a:solidFill>
              </a:rPr>
              <a:t>th</a:t>
            </a:r>
            <a:r>
              <a:rPr lang="en-IN" b="1" dirty="0">
                <a:solidFill>
                  <a:schemeClr val="bg1"/>
                </a:solidFill>
              </a:rPr>
              <a:t> year B.sc(Hons) Agriculture</a:t>
            </a:r>
          </a:p>
          <a:p>
            <a:r>
              <a:rPr lang="en-IN" b="1" dirty="0">
                <a:solidFill>
                  <a:schemeClr val="bg1"/>
                </a:solidFill>
              </a:rPr>
              <a:t>UASB, GKVK - Bengaluru                    </a:t>
            </a:r>
          </a:p>
        </p:txBody>
      </p:sp>
      <p:sp>
        <p:nvSpPr>
          <p:cNvPr id="10" name="Text 8"/>
          <p:cNvSpPr/>
          <p:nvPr/>
        </p:nvSpPr>
        <p:spPr>
          <a:xfrm>
            <a:off x="822960" y="37947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498080" y="1828800"/>
            <a:ext cx="1280160" cy="1280160"/>
          </a:xfrm>
          <a:prstGeom prst="ellipse">
            <a:avLst/>
          </a:prstGeom>
          <a:solidFill>
            <a:srgbClr val="66BB6A">
              <a:alpha val="70000"/>
            </a:srgbClr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09560" y="2377440"/>
            <a:ext cx="685800" cy="685800"/>
          </a:xfrm>
          <a:prstGeom prst="ellipse">
            <a:avLst/>
          </a:prstGeom>
          <a:solidFill>
            <a:srgbClr val="A5D6A7">
              <a:alpha val="80000"/>
            </a:srgbClr>
          </a:solidFill>
          <a:ln w="12700">
            <a:solidFill>
              <a:srgbClr val="A5D6A7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  |  Introduction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Precision Farming | AI &amp; ML Project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32320" y="64008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🌾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</a:rPr>
              <a:t>What is Precision Farming?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10515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1A"/>
                </a:solidFill>
              </a:rPr>
              <a:t>Precision farming uses data science and technology to make smarter, field-specific decisions about crop selection, fertilizer use, and irrigation — ensuring every input is used optimally.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874520"/>
            <a:ext cx="2560320" cy="10058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920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2,200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65760" y="24505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BB6A"/>
                </a:solidFill>
              </a:rPr>
              <a:t>Dataset Records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1874520"/>
            <a:ext cx="2560320" cy="10058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46120" y="1920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22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246120" y="24505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BB6A"/>
                </a:solidFill>
              </a:rPr>
              <a:t>Crop Types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874520"/>
            <a:ext cx="2560320" cy="10058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7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126480" y="24505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BB6A"/>
                </a:solidFill>
              </a:rPr>
              <a:t>Input Features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017520"/>
            <a:ext cx="4114800" cy="1463040"/>
          </a:xfrm>
          <a:prstGeom prst="rect">
            <a:avLst/>
          </a:prstGeom>
          <a:solidFill>
            <a:srgbClr val="EDF7ED"/>
          </a:solidFill>
          <a:ln w="12700">
            <a:solidFill>
              <a:srgbClr val="66BB6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017520"/>
            <a:ext cx="64008" cy="14630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0906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3346704"/>
            <a:ext cx="391363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1A"/>
                </a:solidFill>
              </a:rPr>
              <a:t>Farmers rely on tradition rather than soil data — leading to wrong crop choices, wasted fertilizers, and lower yields.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3017520"/>
            <a:ext cx="4114800" cy="1463040"/>
          </a:xfrm>
          <a:prstGeom prst="rect">
            <a:avLst/>
          </a:prstGeom>
          <a:solidFill>
            <a:srgbClr val="EDF7ED"/>
          </a:solidFill>
          <a:ln w="12700">
            <a:solidFill>
              <a:srgbClr val="66BB6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3017520"/>
            <a:ext cx="64008" cy="146304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30906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00600" y="3346704"/>
            <a:ext cx="391363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1A"/>
                </a:solidFill>
              </a:rPr>
              <a:t>ML models analyze N, P, K, Temperature, Humidity, pH, and Rainfall to recommend the most suitable crop with 97%+ accuracy.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  |  Problem Statement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Precision Farming | AI &amp; ML Project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</a:rPr>
              <a:t>What Problem Are We Solving?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4114800" cy="3200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97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Traditional Farming Challenges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508760"/>
            <a:ext cx="54864" cy="347472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508760"/>
            <a:ext cx="3931920" cy="347472"/>
          </a:xfrm>
          <a:prstGeom prst="rect">
            <a:avLst/>
          </a:prstGeom>
          <a:solidFill>
            <a:srgbClr val="FFF3F3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5361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</a:rPr>
              <a:t>No scientific data on soil fertility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075688"/>
            <a:ext cx="54864" cy="347472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75688"/>
            <a:ext cx="3931920" cy="347472"/>
          </a:xfrm>
          <a:prstGeom prst="rect">
            <a:avLst/>
          </a:prstGeom>
          <a:solidFill>
            <a:srgbClr val="FFF3F3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103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</a:rPr>
              <a:t>Guesswork-based crop selection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642616"/>
            <a:ext cx="54864" cy="347472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642616"/>
            <a:ext cx="3931920" cy="347472"/>
          </a:xfrm>
          <a:prstGeom prst="rect">
            <a:avLst/>
          </a:prstGeom>
          <a:solidFill>
            <a:srgbClr val="FFF3F3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6700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</a:rPr>
              <a:t>Overuse of chemical fertilizers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209544"/>
            <a:ext cx="54864" cy="347472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209544"/>
            <a:ext cx="3931920" cy="347472"/>
          </a:xfrm>
          <a:prstGeom prst="rect">
            <a:avLst/>
          </a:prstGeom>
          <a:solidFill>
            <a:srgbClr val="FFF3F3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2369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</a:rPr>
              <a:t>Lower yield and soil degradation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776472"/>
            <a:ext cx="54864" cy="347472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776472"/>
            <a:ext cx="3931920" cy="347472"/>
          </a:xfrm>
          <a:prstGeom prst="rect">
            <a:avLst/>
          </a:prstGeom>
          <a:solidFill>
            <a:srgbClr val="FFF3F3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8039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</a:rPr>
              <a:t>Inefficient resource utilization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1097280"/>
            <a:ext cx="4023360" cy="3200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0972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Our ML-Based Solution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1554480"/>
            <a:ext cx="402336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5E20"/>
                </a:solidFill>
              </a:rPr>
              <a:t>Input: </a:t>
            </a:r>
            <a:r>
              <a:rPr lang="en-US" sz="1000" dirty="0">
                <a:solidFill>
                  <a:srgbClr val="1A2E1A"/>
                </a:solidFill>
              </a:rPr>
              <a:t>N, P, K, Temperature, Humidity, pH, Rainfall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2029968"/>
            <a:ext cx="4023360" cy="384048"/>
          </a:xfrm>
          <a:prstGeom prst="rect">
            <a:avLst/>
          </a:prstGeom>
          <a:solidFill>
            <a:srgbClr val="EDF7ED"/>
          </a:solidFill>
          <a:ln w="12700">
            <a:solidFill>
              <a:srgbClr val="66BB6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92040" y="20665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5E20"/>
                </a:solidFill>
              </a:rPr>
              <a:t>🌳 Decision Tree Classifier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2532888"/>
            <a:ext cx="4023360" cy="384048"/>
          </a:xfrm>
          <a:prstGeom prst="rect">
            <a:avLst/>
          </a:prstGeom>
          <a:solidFill>
            <a:srgbClr val="EDF7ED"/>
          </a:solidFill>
          <a:ln w="12700">
            <a:solidFill>
              <a:srgbClr val="66BB6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92040" y="25694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5E20"/>
                </a:solidFill>
              </a:rPr>
              <a:t>🌳 Random Forest Classifier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54880" y="3108960"/>
            <a:ext cx="402336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5E20"/>
                </a:solidFill>
              </a:rPr>
              <a:t>Output: </a:t>
            </a:r>
            <a:r>
              <a:rPr lang="en-US" sz="1000" dirty="0">
                <a:solidFill>
                  <a:srgbClr val="1A2E1A"/>
                </a:solidFill>
              </a:rPr>
              <a:t>Best suited crop recommendation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3493008"/>
            <a:ext cx="4023360" cy="9144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54880" y="3520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6BB6A"/>
                </a:solidFill>
              </a:rPr>
              <a:t>Scope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54880" y="37947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2,200 records  •  22 crops  •  70/30 split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Accuracy | Precision | F1 Score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  |  Motivation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Precision Farming | AI &amp; ML Project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</a:rPr>
              <a:t>Why This Project Matters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84124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43000"/>
            <a:ext cx="73152" cy="1078992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34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❗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325880" y="121615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5E20"/>
                </a:solidFill>
              </a:rPr>
              <a:t>Why This Problem Is Important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325880" y="1490472"/>
            <a:ext cx="7223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2E1A"/>
                </a:solidFill>
              </a:rPr>
              <a:t>Poor crop selection leads to wasted fertilizers, lower yields, and degraded soil — season after season. With global population crossing 9.7 billion by 2050, scientific crop guidance is no longer optional.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365760" y="2377440"/>
            <a:ext cx="84124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377440"/>
            <a:ext cx="73152" cy="10789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🌾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325880" y="245059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5E20"/>
                </a:solidFill>
              </a:rPr>
              <a:t>Practical Applications in Farming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325880" y="2724912"/>
            <a:ext cx="7223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2E1A"/>
                </a:solidFill>
              </a:rPr>
              <a:t>Farmers get instant crop advice from soil test results. Soil labs can attach automatic recommendations to every report. Extension workers can advise entire communities using a single tool.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365760" y="3611880"/>
            <a:ext cx="84124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611880"/>
            <a:ext cx="73152" cy="107899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703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🔬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325880" y="368503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5E20"/>
                </a:solidFill>
              </a:rPr>
              <a:t>Relevance to Research &amp; Industry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325880" y="3959352"/>
            <a:ext cx="7223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2E1A"/>
                </a:solidFill>
              </a:rPr>
              <a:t>Proves that simple ML models achieve 97%+ accuracy. Agri-tech companies can embed this as their intelligence layer. Supports sustainable farming by reducing chemical overuse and protecting soil health.</a:t>
            </a:r>
            <a:endParaRPr lang="en-US" sz="9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  |  Objectives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Precision Farming | AI &amp; ML Project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</a:rPr>
              <a:t>What We Set Out to Achieve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41605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" y="1280160"/>
            <a:ext cx="502920" cy="50292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78992" y="1207008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</a:rPr>
              <a:t>Develop a supervised ML pipeline for automated crop classification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1115568"/>
            <a:ext cx="41605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10328" y="1280160"/>
            <a:ext cx="502920" cy="5029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0328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13832" y="1207008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</a:rPr>
              <a:t>Compare performance of Decision Tree vs Random Forest classifiers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258568"/>
            <a:ext cx="41605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" y="2423160"/>
            <a:ext cx="502920" cy="502920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78992" y="2350008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</a:rPr>
              <a:t>Identify the most significant soil &amp; climate features for crop selection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2258568"/>
            <a:ext cx="41605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10328" y="2423160"/>
            <a:ext cx="502920" cy="50292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0328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13832" y="2350008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</a:rPr>
              <a:t>Visualize data distribution and model performance through charts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41605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" y="3566160"/>
            <a:ext cx="502920" cy="502920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78992" y="3493008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</a:rPr>
              <a:t>Build an interactive user input module for real-time recommendations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00600" y="3401568"/>
            <a:ext cx="41605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910328" y="3566160"/>
            <a:ext cx="502920" cy="502920"/>
          </a:xfrm>
          <a:prstGeom prst="ellipse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0328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513832" y="3493008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</a:rPr>
              <a:t>Promote precision agriculture through data-driven insights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  |  Dataset Overview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Precision Farming | AI &amp; ML Project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5E20"/>
                </a:solidFill>
              </a:rPr>
              <a:t>Crop_recommendation.csv — Dataset at a Glance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042416"/>
            <a:ext cx="1920240" cy="7772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0698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2,200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14630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BB6A"/>
                </a:solidFill>
              </a:rPr>
              <a:t>Total Records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68880" y="1042416"/>
            <a:ext cx="1920240" cy="7772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68880" y="10698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68880" y="14630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BB6A"/>
                </a:solidFill>
              </a:rPr>
              <a:t>Crop Types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0" y="1042416"/>
            <a:ext cx="1920240" cy="7772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10698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0" y="14630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BB6A"/>
                </a:solidFill>
              </a:rPr>
              <a:t>Input Features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675120" y="1042416"/>
            <a:ext cx="1920240" cy="7772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75120" y="10698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675120" y="14630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BB6A"/>
                </a:solidFill>
              </a:rPr>
              <a:t>Missing Values</a:t>
            </a:r>
            <a:endParaRPr lang="en-US" sz="8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920240"/>
          <a:ext cx="8412480" cy="206502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1A"/>
                          </a:solidFill>
                        </a:rPr>
                        <a:t>N (Nitrogen)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1A"/>
                          </a:solidFill>
                        </a:rPr>
                        <a:t>Numerical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1A"/>
                          </a:solidFill>
                        </a:rPr>
                        <a:t>Nitrogen content in soil (kg/ha)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1A"/>
                          </a:solidFill>
                        </a:rPr>
                        <a:t>P (Phosphorus)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1A"/>
                          </a:solidFill>
                        </a:rPr>
                        <a:t>Numerical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1A"/>
                          </a:solidFill>
                        </a:rPr>
                        <a:t>Phosphorus content in soil (kg/ha)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1A"/>
                          </a:solidFill>
                        </a:rPr>
                        <a:t>K (Potassium)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1A"/>
                          </a:solidFill>
                        </a:rPr>
                        <a:t>Numerical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1A"/>
                          </a:solidFill>
                        </a:rPr>
                        <a:t>Potassium content in soil (kg/ha)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1A"/>
                          </a:solidFill>
                        </a:rPr>
                        <a:t>Temperature (°C)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1A"/>
                          </a:solidFill>
                        </a:rPr>
                        <a:t>Numerical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1A"/>
                          </a:solidFill>
                        </a:rPr>
                        <a:t>Average ambient temperature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1A"/>
                          </a:solidFill>
                        </a:rPr>
                        <a:t>Humidity (%)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1A"/>
                          </a:solidFill>
                        </a:rPr>
                        <a:t>Numerical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1A"/>
                          </a:solidFill>
                        </a:rPr>
                        <a:t>Relative humidity of environment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1A"/>
                          </a:solidFill>
                        </a:rPr>
                        <a:t>pH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1A"/>
                          </a:solidFill>
                        </a:rPr>
                        <a:t>Numerical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1A"/>
                          </a:solidFill>
                        </a:rPr>
                        <a:t>Soil acidity or alkalinity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1A"/>
                          </a:solidFill>
                        </a:rPr>
                        <a:t>Rainfall (mm)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1A"/>
                          </a:solidFill>
                        </a:rPr>
                        <a:t>Numerical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1A"/>
                          </a:solidFill>
                        </a:rPr>
                        <a:t>Average annual rainfall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1A"/>
                          </a:solidFill>
                        </a:rPr>
                        <a:t>Label (Crop)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1A"/>
                          </a:solidFill>
                        </a:rPr>
                        <a:t>Categorical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1A"/>
                          </a:solidFill>
                        </a:rPr>
                        <a:t>Target: crop name to recommend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  |  Methodology / Approach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Precision Farming | AI &amp; ML Project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548640"/>
            <a:ext cx="84124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 dirty="0">
                <a:solidFill>
                  <a:srgbClr val="1B5E20"/>
                </a:solidFill>
              </a:rPr>
              <a:t>Step-by-Step ML Workflow  </a:t>
            </a:r>
          </a:p>
          <a:p>
            <a:r>
              <a:rPr lang="en-US" sz="1000" b="1" dirty="0">
                <a:solidFill>
                  <a:srgbClr val="1B5E20"/>
                </a:solidFill>
              </a:rPr>
              <a:t>Code:- </a:t>
            </a:r>
            <a:r>
              <a:rPr lang="en-US" sz="1000" b="1" dirty="0">
                <a:solidFill>
                  <a:schemeClr val="accent1"/>
                </a:solidFill>
                <a:hlinkClick r:id="rId3"/>
              </a:rPr>
              <a:t>https://colab.research.google.com/drive/1UUnX05D3t4frU1XzUbuap3JQF3OuROMV?usp=drive_link</a:t>
            </a:r>
            <a:endParaRPr lang="en-US" sz="1000" b="1" dirty="0">
              <a:solidFill>
                <a:schemeClr val="accent1"/>
              </a:solidFill>
            </a:endParaRPr>
          </a:p>
          <a:p>
            <a:r>
              <a:rPr lang="en-US" sz="1000" dirty="0">
                <a:solidFill>
                  <a:schemeClr val="accent1"/>
                </a:solidFill>
              </a:rPr>
              <a:t>             </a:t>
            </a:r>
            <a:r>
              <a:rPr lang="en-US" sz="1000" b="1" dirty="0">
                <a:solidFill>
                  <a:schemeClr val="accent1"/>
                </a:solidFill>
              </a:rPr>
              <a:t>https://colab.research.google.com/drive/1UUnX05D3t4frU1XzUbuap3JQF3OuROMV?usp=drive_link</a:t>
            </a:r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2697480" cy="14630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20700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BB6A"/>
                </a:solidFill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20040" y="155448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Load &amp; Explore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1865376"/>
            <a:ext cx="269748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6C9"/>
                </a:solidFill>
              </a:rPr>
              <a:t>Read CSV, check shape, preview rows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017520" y="1709928"/>
            <a:ext cx="228600" cy="73152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115568"/>
            <a:ext cx="2697480" cy="14630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46120" y="120700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BB6A"/>
                </a:solidFill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246120" y="155448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Visualize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46120" y="1865376"/>
            <a:ext cx="269748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6C9"/>
                </a:solidFill>
              </a:rPr>
              <a:t>Bar &amp; Pie charts for crop distribution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0" y="1709928"/>
            <a:ext cx="228600" cy="73152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1115568"/>
            <a:ext cx="2697480" cy="14630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72200" y="120700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BB6A"/>
                </a:solidFill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172200" y="155448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Preprocess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72200" y="1865376"/>
            <a:ext cx="269748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6C9"/>
                </a:solidFill>
              </a:rPr>
              <a:t>Label encode, 70/30 train-test split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2944368"/>
            <a:ext cx="2697480" cy="14630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0040" y="303580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A825"/>
                </a:solidFill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20040" y="338328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Train Models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" y="3694176"/>
            <a:ext cx="269748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6C9"/>
                </a:solidFill>
              </a:rPr>
              <a:t>Decision Tree &amp; Random Forest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017520" y="3538728"/>
            <a:ext cx="228600" cy="73152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46120" y="2944368"/>
            <a:ext cx="2697480" cy="14630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246120" y="303580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A825"/>
                </a:solidFill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246120" y="338328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Evaluate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46120" y="3694176"/>
            <a:ext cx="269748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6C9"/>
                </a:solidFill>
              </a:rPr>
              <a:t>Accuracy, Precision, F1 Score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943600" y="3538728"/>
            <a:ext cx="228600" cy="73152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72200" y="2944368"/>
            <a:ext cx="2697480" cy="14630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172200" y="303580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A825"/>
                </a:solidFill>
              </a:rPr>
              <a:t>06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172200" y="338328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Recommend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72200" y="3694176"/>
            <a:ext cx="269748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6C9"/>
                </a:solidFill>
              </a:rPr>
              <a:t>User inputs → model → crop name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07  |  Tools and Technologies Used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Precision Farming | AI &amp; ML Project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</a:rPr>
              <a:t>Technology Stack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97280"/>
            <a:ext cx="2651760" cy="34747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111556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🐍  Python 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49961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</a:rPr>
              <a:t>Programming Language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173736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1A"/>
                </a:solidFill>
              </a:rPr>
              <a:t>Core language for ML, data handling &amp; visualization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46120" y="109728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097280"/>
            <a:ext cx="2651760" cy="34747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9272" y="111556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📊  pandas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37560" y="149961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</a:rPr>
              <a:t>Data Library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37560" y="173736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1A"/>
                </a:solidFill>
              </a:rPr>
              <a:t>Loading, exploring and transforming the dataset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72200" y="109728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1097280"/>
            <a:ext cx="2651760" cy="34747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45352" y="111556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🤖  scikit-learn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63640" y="149961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</a:rPr>
              <a:t>ML Library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63640" y="173736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1A"/>
                </a:solidFill>
              </a:rPr>
              <a:t>Decision Tree, Random Forest, metrics &amp; preprocessing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278892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788920"/>
            <a:ext cx="2651760" cy="34747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3192" y="280720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📈  matplotlib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319125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</a:rPr>
              <a:t>Visualization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" y="342900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1A"/>
                </a:solidFill>
              </a:rPr>
              <a:t>Bar charts, pie charts, and performance graphs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46120" y="278892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46120" y="2788920"/>
            <a:ext cx="2651760" cy="34747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9272" y="280720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☁️  Google Colab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37560" y="319125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</a:rPr>
              <a:t>Development Platform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37560" y="342900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1A"/>
                </a:solidFill>
              </a:rPr>
              <a:t>Free cloud-based Python notebook environment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72200" y="278892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72200" y="2788920"/>
            <a:ext cx="2651760" cy="34747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45352" y="280720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🗃️  Kaggle Dataset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63640" y="319125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</a:rPr>
              <a:t>Data Source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63640" y="342900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1A"/>
                </a:solidFill>
              </a:rPr>
              <a:t>Crop_recommendation.csv — 2,200 records, 22 classes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08  |  Results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Precision Farming | AI &amp; ML Project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</a:rPr>
              <a:t>Model Performance Summary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4160520" cy="34747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5156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🌲  Random Forest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5087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</a:rPr>
              <a:t>Accuracy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463040" y="1581912"/>
            <a:ext cx="2560320" cy="219456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63040" y="1581912"/>
            <a:ext cx="2516795" cy="21945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69080" y="15087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</a:rPr>
              <a:t>98.3%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13055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</a:rPr>
              <a:t>Precision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463040" y="2203704"/>
            <a:ext cx="2560320" cy="219456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63040" y="2203704"/>
            <a:ext cx="2509114" cy="21945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69080" y="21305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</a:rPr>
              <a:t>0.98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275234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</a:rPr>
              <a:t>F1 Score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463040" y="2825496"/>
            <a:ext cx="2560320" cy="219456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63040" y="2825496"/>
            <a:ext cx="2509114" cy="21945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69080" y="275234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</a:rPr>
              <a:t>0.98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1051560"/>
            <a:ext cx="406908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105156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🌳  Decision Tree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15087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</a:rPr>
              <a:t>Accuracy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806440" y="1581912"/>
            <a:ext cx="2468880" cy="219456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06440" y="1581912"/>
            <a:ext cx="2412096" cy="219456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0" y="15087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</a:rPr>
              <a:t>97.7%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213055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</a:rPr>
              <a:t>Precision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806440" y="2203704"/>
            <a:ext cx="2468880" cy="219456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06440" y="2203704"/>
            <a:ext cx="2394814" cy="219456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0" y="21305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</a:rPr>
              <a:t>0.97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54880" y="275234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</a:rPr>
              <a:t>F1 Score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806440" y="2825496"/>
            <a:ext cx="2468880" cy="219456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06440" y="2825496"/>
            <a:ext cx="2394814" cy="219456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21040" y="275234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</a:rPr>
              <a:t>0.97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3520440"/>
            <a:ext cx="8412480" cy="29260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5204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Key Observations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65760" y="3867912"/>
            <a:ext cx="54864" cy="2560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386791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1A"/>
                </a:solidFill>
              </a:rPr>
              <a:t>Both models exceeded 97% accuracy on unseen test data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17720" y="3867912"/>
            <a:ext cx="54864" cy="2560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386791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1A"/>
                </a:solidFill>
              </a:rPr>
              <a:t>Random Forest outperforms Decision Tree due to ensemble averaging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65760" y="4251960"/>
            <a:ext cx="54864" cy="2560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425196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1A"/>
                </a:solidFill>
              </a:rPr>
              <a:t>Rainfall &amp; Humidity are the most influential prediction features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17720" y="4251960"/>
            <a:ext cx="54864" cy="2560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425196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1A"/>
                </a:solidFill>
              </a:rPr>
              <a:t>Dataset is well-balanced — no class bias observed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09  |  Discussion / Analysis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Precision Farming | AI &amp; ML Project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</a:rPr>
              <a:t>Insights, Challenges &amp; Limitations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2743200" cy="3200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51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Key Insights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1463040"/>
            <a:ext cx="201168" cy="20116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4447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1A2E1A"/>
                </a:solidFill>
              </a:rPr>
              <a:t>7 parameters provide sufficient info to identify the right crop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411480" y="2011680"/>
            <a:ext cx="201168" cy="20116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9933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1A2E1A"/>
                </a:solidFill>
              </a:rPr>
              <a:t>Rainfall &amp; Humidity are the most discriminative features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411480" y="2560320"/>
            <a:ext cx="201168" cy="20116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542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1A2E1A"/>
                </a:solidFill>
              </a:rPr>
              <a:t>Potassium ranked higher than Phosphorus in feature importance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411480" y="3108960"/>
            <a:ext cx="201168" cy="20116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0906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1A2E1A"/>
                </a:solidFill>
              </a:rPr>
              <a:t>Balanced dataset ensured fair multi-class evaluation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3337560" y="1051560"/>
            <a:ext cx="2743200" cy="32004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1051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Challenges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83280" y="1463040"/>
            <a:ext cx="201168" cy="20116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0" y="14447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1A2E1A"/>
                </a:solidFill>
              </a:rPr>
              <a:t>Dataset assumes uniform soil testing standards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3383280" y="2011680"/>
            <a:ext cx="201168" cy="20116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19933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1A2E1A"/>
                </a:solidFill>
              </a:rPr>
              <a:t>Static snapshot — no seasonal or real-time data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3383280" y="2560320"/>
            <a:ext cx="201168" cy="20116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0" y="2542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1A2E1A"/>
                </a:solidFill>
              </a:rPr>
              <a:t>Geographic generalization is not documented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3383280" y="3108960"/>
            <a:ext cx="201168" cy="20116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0" y="30906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1A2E1A"/>
                </a:solidFill>
              </a:rPr>
              <a:t>User input accuracy affects recommendation quality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6309360" y="1051560"/>
            <a:ext cx="2468880" cy="32004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1051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5E20"/>
                </a:solidFill>
              </a:rPr>
              <a:t>Limitations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55080" y="1463040"/>
            <a:ext cx="201168" cy="20116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9400" y="14447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1A2E1A"/>
                </a:solidFill>
              </a:rPr>
              <a:t>No market price or profitability analysis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6355080" y="2011680"/>
            <a:ext cx="201168" cy="20116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29400" y="19933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1A2E1A"/>
                </a:solidFill>
              </a:rPr>
              <a:t>Pest &amp; disease risk not considered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6355080" y="2560320"/>
            <a:ext cx="201168" cy="20116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29400" y="25420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1A2E1A"/>
                </a:solidFill>
              </a:rPr>
              <a:t>Crop rotation history ignored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6355080" y="3108960"/>
            <a:ext cx="201168" cy="20116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29400" y="30906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1A2E1A"/>
                </a:solidFill>
              </a:rPr>
              <a:t>No irrigation data included</a:t>
            </a:r>
            <a:endParaRPr lang="en-US" sz="920" dirty="0"/>
          </a:p>
        </p:txBody>
      </p:sp>
      <p:sp>
        <p:nvSpPr>
          <p:cNvPr id="37" name="Shape 35"/>
          <p:cNvSpPr/>
          <p:nvPr/>
        </p:nvSpPr>
        <p:spPr>
          <a:xfrm>
            <a:off x="6355080" y="3657600"/>
            <a:ext cx="201168" cy="20116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29400" y="36393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1A2E1A"/>
                </a:solidFill>
              </a:rPr>
              <a:t>No seed variety optimization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365760" y="4050792"/>
            <a:ext cx="8412480" cy="809596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48640" y="41650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BB6A"/>
                </a:solidFill>
              </a:rPr>
              <a:t>Agricultural Impact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8640" y="4352544"/>
            <a:ext cx="8366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Empowers smallholder farmers  •  Reduces fertilizer overuse  •  Supports government advisory at scale  •  Improves soil health &amp; food security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10  |  Conclusion and Future Work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Precision Farming | AI &amp; ML Project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5E20"/>
                </a:solidFill>
              </a:rPr>
              <a:t>What We Achieved &amp; Where We're Headed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042416"/>
            <a:ext cx="4114800" cy="3200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4241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Conclusion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444752"/>
            <a:ext cx="54864" cy="384048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444752"/>
            <a:ext cx="3931920" cy="384048"/>
          </a:xfrm>
          <a:prstGeom prst="rect">
            <a:avLst/>
          </a:prstGeom>
          <a:solidFill>
            <a:srgbClr val="EDF7ED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4813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2E1A"/>
                </a:solidFill>
              </a:rPr>
              <a:t>Full ML pipeline built end-to-end in Google Colab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365760" y="2011680"/>
            <a:ext cx="54864" cy="384048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11680"/>
            <a:ext cx="3931920" cy="384048"/>
          </a:xfrm>
          <a:prstGeom prst="rect">
            <a:avLst/>
          </a:prstGeom>
          <a:solidFill>
            <a:srgbClr val="EDF7ED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04825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2E1A"/>
                </a:solidFill>
              </a:rPr>
              <a:t>Random Forest: 98.3%  |  Decision Tree: 97.7% accuracy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365760" y="2578608"/>
            <a:ext cx="54864" cy="384048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578608"/>
            <a:ext cx="3931920" cy="384048"/>
          </a:xfrm>
          <a:prstGeom prst="rect">
            <a:avLst/>
          </a:prstGeom>
          <a:solidFill>
            <a:srgbClr val="EDF7ED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61518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2E1A"/>
                </a:solidFill>
              </a:rPr>
              <a:t>7 parameters are sufficient for precise crop prediction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365760" y="3145536"/>
            <a:ext cx="54864" cy="384048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145536"/>
            <a:ext cx="3931920" cy="384048"/>
          </a:xfrm>
          <a:prstGeom prst="rect">
            <a:avLst/>
          </a:prstGeom>
          <a:solidFill>
            <a:srgbClr val="EDF7ED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1821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2E1A"/>
                </a:solidFill>
              </a:rPr>
              <a:t>Both models validated ML potential in precision agriculture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4709160" y="1042416"/>
            <a:ext cx="4069080" cy="3200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1042416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Future Scope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1444752"/>
            <a:ext cx="4023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148132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2E1A"/>
                </a:solidFill>
              </a:rPr>
              <a:t>📡  IoT sensor integration for real-time soil data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4709160" y="1993392"/>
            <a:ext cx="4023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20299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2E1A"/>
                </a:solidFill>
              </a:rPr>
              <a:t>🌦️  Live weather API for climate-adaptive advice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4709160" y="2542032"/>
            <a:ext cx="4023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257860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2E1A"/>
                </a:solidFill>
              </a:rPr>
              <a:t>📱  Mobile app for direct farmer accessibility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4709160" y="3090672"/>
            <a:ext cx="4023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28032" y="31272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2E1A"/>
                </a:solidFill>
              </a:rPr>
              <a:t>💰  Market price data for profitability optimization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4709160" y="3639312"/>
            <a:ext cx="4023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36758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2E1A"/>
                </a:solidFill>
              </a:rPr>
              <a:t>🌍  Multi-language support for regional farmers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4709160" y="4187952"/>
            <a:ext cx="4023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28032" y="422452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2E1A"/>
                </a:solidFill>
              </a:rPr>
              <a:t>🔄  Crop rotation engine for long-term soil health</a:t>
            </a:r>
            <a:endParaRPr lang="en-US" sz="980" dirty="0"/>
          </a:p>
        </p:txBody>
      </p:sp>
      <p:sp>
        <p:nvSpPr>
          <p:cNvPr id="36" name="Text 34"/>
          <p:cNvSpPr/>
          <p:nvPr/>
        </p:nvSpPr>
        <p:spPr>
          <a:xfrm>
            <a:off x="502920" y="386791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0292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11  |  References 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Precision Farming | AI &amp; ML Project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4114800" cy="3200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94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References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024128"/>
            <a:ext cx="182880" cy="1828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6640" y="9372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2E1A"/>
                </a:solidFill>
              </a:rPr>
              <a:t>Crop_recommendation.csv — Kaggle Open Datasets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411480" y="1554480"/>
            <a:ext cx="182880" cy="1828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5270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2E1A"/>
                </a:solidFill>
              </a:rPr>
              <a:t>scikit-learn — scikit-learn.org (ML library)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411480" y="2084832"/>
            <a:ext cx="182880" cy="1828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0574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2E1A"/>
                </a:solidFill>
              </a:rPr>
              <a:t>pandas — pandas.pydata.org (data handling)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411480" y="2615184"/>
            <a:ext cx="182880" cy="1828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5877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2E1A"/>
                </a:solidFill>
              </a:rPr>
              <a:t>matplotlib — matplotlib.org (visualization)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411480" y="3145536"/>
            <a:ext cx="182880" cy="1828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11810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2E1A"/>
                </a:solidFill>
              </a:rPr>
              <a:t>Google Colaboratory — colab.research.google.com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572000" y="62179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886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66360" y="102412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22480" y="132912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54880" y="1609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166360" y="1609344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166360" y="179222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5488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166360" y="219456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166360" y="237744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0" y="2779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166360" y="2779776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166360" y="2962656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54880" y="3364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415840" y="3258504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65760" y="3886200"/>
            <a:ext cx="8412480" cy="5943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02920" y="39136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5D6A7"/>
                </a:solidFill>
              </a:rPr>
              <a:t>This project was built using only open-source tools and a publicly available dataset 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2E7D32">
              <a:alpha val="45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657600"/>
            <a:ext cx="2560320" cy="2560320"/>
          </a:xfrm>
          <a:prstGeom prst="ellipse">
            <a:avLst/>
          </a:prstGeom>
          <a:solidFill>
            <a:srgbClr val="388E3C">
              <a:alpha val="40000"/>
            </a:srgbClr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457200"/>
            <a:ext cx="1828800" cy="1371600"/>
          </a:xfrm>
          <a:prstGeom prst="ellipse">
            <a:avLst/>
          </a:prstGeom>
          <a:solidFill>
            <a:srgbClr val="66BB6A">
              <a:alpha val="60000"/>
            </a:srgbClr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0" y="640080"/>
            <a:ext cx="914400" cy="914400"/>
          </a:xfrm>
          <a:prstGeom prst="ellipse">
            <a:avLst/>
          </a:prstGeom>
          <a:solidFill>
            <a:srgbClr val="A5D6A7">
              <a:alpha val="75000"/>
            </a:srgbClr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459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You!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2743200" y="2743200"/>
            <a:ext cx="3657600" cy="457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90779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4015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0" y="39776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A825"/>
                </a:solidFill>
              </a:rPr>
              <a:t>Questions &amp; Discussion Welcome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770</TotalTime>
  <Words>1142</Words>
  <Application>Microsoft Office PowerPoint</Application>
  <PresentationFormat>On-screen Show (16:9)</PresentationFormat>
  <Paragraphs>231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Precision Farming: Effective Input Utilization Using AI and ML</dc:title>
  <dc:subject>PptxGenJS Presentation</dc:subject>
  <dc:creator>PptxGenJS</dc:creator>
  <cp:lastModifiedBy>Naveen Mallikarjunaiah</cp:lastModifiedBy>
  <cp:revision>4</cp:revision>
  <dcterms:created xsi:type="dcterms:W3CDTF">2026-04-14T15:09:26Z</dcterms:created>
  <dcterms:modified xsi:type="dcterms:W3CDTF">2026-04-15T19:03:05Z</dcterms:modified>
</cp:coreProperties>
</file>